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7B9BAA-D9D4-4C4F-9C7D-E45617734124}">
  <a:tblStyle styleId="{487B9BAA-D9D4-4C4F-9C7D-E456177341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D592CA1-867A-48E0-A41A-ED9816324D7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1c00fc2e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1c00fc2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1c00fc2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1c00fc2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1c00fc2e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1c00fc2e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1c00fc2e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1c00fc2e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1c00fc2e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1c00fc2e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1ee288b6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1ee288b6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1ee288b6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1ee288b6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1ee288b6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1ee288b6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1ee288b6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1ee288b6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1ee288b6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1ee288b6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1ee288b6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1ee288b6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1ee288b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1ee288b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1ee288b60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1ee288b60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1ee288b6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1ee288b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1ee288b6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1ee288b6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1ee288b6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1ee288b6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ee288b6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ee288b6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1ee288b6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1ee288b6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1ee288b6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1ee288b6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1ee288b6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1ee288b6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hyperlink" Target="https://community.jaspersoft.com/wiki/designing-report-jaspersoft-studio" TargetMode="External"/><Relationship Id="rId5" Type="http://schemas.openxmlformats.org/officeDocument/2006/relationships/hyperlink" Target="https://community.jaspersoft.com/wiki/designing-report-jaspersoft-studio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10" Type="http://schemas.openxmlformats.org/officeDocument/2006/relationships/image" Target="../media/image11.png"/><Relationship Id="rId9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hyperlink" Target="https://www.linkedin.com/in/jigar-pandya/" TargetMode="External"/><Relationship Id="rId7" Type="http://schemas.openxmlformats.org/officeDocument/2006/relationships/hyperlink" Target="https://github.com/profjigarpandya/" TargetMode="External"/><Relationship Id="rId8" Type="http://schemas.openxmlformats.org/officeDocument/2006/relationships/hyperlink" Target="https://www.kaggle.com/jigarpandy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v</a:t>
            </a:r>
            <a:r>
              <a:rPr lang="en-GB" sz="2700"/>
              <a:t>izzes for </a:t>
            </a:r>
            <a:r>
              <a:rPr lang="en-GB"/>
              <a:t>Visualizations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Big Data Analytics / Data Science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27000" y="34689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Presentation Phase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300"/>
              <a:t>Ready </a:t>
            </a:r>
            <a:r>
              <a:rPr lang="en-GB" sz="4300"/>
              <a:t>Results; Known Insights; Clean DataSets</a:t>
            </a:r>
            <a:endParaRPr sz="4300"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Viz will you choose and why?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1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Data Science has below three equally important primary aspects involved.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Mathematics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Computer Science Technology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Subject matter expertise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There are other internal sub aspects like Machine Learning, where NO involvement of human/subject matter expertise but only Mathematics and Computer Science Technology.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 (Think what can be improved here)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775" y="1220950"/>
            <a:ext cx="5448300" cy="37081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4320625" y="4474150"/>
            <a:ext cx="35934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my-dev/R/VennDiagram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2: 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Voting Results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2" name="Google Shape;82;p17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{487B9BAA-D9D4-4C4F-9C7D-E45617734124}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Party Name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Votes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Party 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Party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Party 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NOTA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488" y="757238"/>
            <a:ext cx="7439025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474050" y="4524750"/>
            <a:ext cx="3694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How about some ordering/sorting?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113" y="757225"/>
            <a:ext cx="743902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488" y="776288"/>
            <a:ext cx="7439025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5636550" y="4423525"/>
            <a:ext cx="26550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my-dev/R/PieChart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3: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Every year during Winter season, Sales is high and every year it increases too. Note that sales over years may or may not have increased.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/>
        </p:nvSpPr>
        <p:spPr>
          <a:xfrm>
            <a:off x="1823750" y="4254825"/>
            <a:ext cx="54831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Crated using google looker studio web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85850"/>
            <a:ext cx="4105275" cy="2971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" name="Google Shape;112;p22"/>
          <p:cNvGraphicFramePr/>
          <p:nvPr/>
        </p:nvGraphicFramePr>
        <p:xfrm>
          <a:off x="354850" y="215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{7D592CA1-867A-48E0-A41A-ED9816324D76}</a:tableStyleId>
              </a:tblPr>
              <a:tblGrid>
                <a:gridCol w="952500"/>
                <a:gridCol w="952500"/>
                <a:gridCol w="952500"/>
                <a:gridCol w="952500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SalesYear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Season1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Season2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Season3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2010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2020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2024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4: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794625" y="1152475"/>
            <a:ext cx="803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Known that participants during a technical workshop have practiced many computer commands. But some of them are trending and useful to many participants. Showcase top n most used commands from participants’ work history.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/>
        </p:nvSpPr>
        <p:spPr>
          <a:xfrm>
            <a:off x="4151925" y="4339175"/>
            <a:ext cx="44709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my-dev/R/participantsWorkRTagCloud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7350" y="1357850"/>
            <a:ext cx="50099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4"/>
          <p:cNvSpPr txBox="1"/>
          <p:nvPr/>
        </p:nvSpPr>
        <p:spPr>
          <a:xfrm>
            <a:off x="1064550" y="711950"/>
            <a:ext cx="7558200" cy="7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WordCloud/TagCloud </a:t>
            </a:r>
            <a:r>
              <a:rPr lang="en-GB" sz="1800">
                <a:solidFill>
                  <a:schemeClr val="dk2"/>
                </a:solidFill>
              </a:rPr>
              <a:t>showcase words with bigger font size having higher frequencies of </a:t>
            </a:r>
            <a:r>
              <a:rPr lang="en-GB" sz="1800">
                <a:solidFill>
                  <a:schemeClr val="dk2"/>
                </a:solidFill>
              </a:rPr>
              <a:t>occurrence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5: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794625" y="1152475"/>
            <a:ext cx="803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CO2 Per Capita needs to be highlighted interactively from 2000 to 2011 years including all if chosen for the world.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763" y="152400"/>
            <a:ext cx="701646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6: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794625" y="1152475"/>
            <a:ext cx="803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University dataset is available and interactive report is </a:t>
            </a:r>
            <a:r>
              <a:rPr lang="en-GB"/>
              <a:t>expected</a:t>
            </a:r>
            <a:r>
              <a:rPr lang="en-GB"/>
              <a:t> to show university wise CS/Non-CS students details.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350" y="262312"/>
            <a:ext cx="7068300" cy="34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8"/>
          <p:cNvSpPr txBox="1"/>
          <p:nvPr/>
        </p:nvSpPr>
        <p:spPr>
          <a:xfrm>
            <a:off x="717300" y="3702725"/>
            <a:ext cx="770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solidFill>
                  <a:schemeClr val="hlink"/>
                </a:solidFill>
                <a:hlinkClick r:id="rId4"/>
              </a:rPr>
              <a:t>https://community.jaspersoft.com/wiki/designing-report-jaspersoft-studio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hlinkClick r:id="rId5"/>
              </a:rPr>
              <a:t>https://community.jaspersoft.com/wiki/jaspersoft-mongodb-query-language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1700">
                <a:solidFill>
                  <a:schemeClr val="dk2"/>
                </a:solidFill>
              </a:rPr>
              <a:t>Text Book: Big Data And Analytics </a:t>
            </a:r>
            <a:r>
              <a:rPr lang="en-GB" sz="1100">
                <a:solidFill>
                  <a:schemeClr val="dk2"/>
                </a:solidFill>
              </a:rPr>
              <a:t>  by Subhashini Chellappan Seema Acharya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/>
        </p:nvSpPr>
        <p:spPr>
          <a:xfrm>
            <a:off x="828350" y="475750"/>
            <a:ext cx="7456800" cy="4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It’s been said that   “A picture is worth a thousand words”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 But for those who are willing to understand and highly gifted.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        For others, it’s still a challenge.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              And this is why even designing visualization is a challenge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				and more than just an art</a:t>
            </a:r>
            <a:r>
              <a:rPr b="1" lang="en-GB" sz="1800">
                <a:solidFill>
                  <a:schemeClr val="dk2"/>
                </a:solidFill>
              </a:rPr>
              <a:t>.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Warning #1  Never represent non-</a:t>
            </a:r>
            <a:r>
              <a:rPr b="1" lang="en-GB" sz="1800">
                <a:solidFill>
                  <a:schemeClr val="dk2"/>
                </a:solidFill>
              </a:rPr>
              <a:t>genuine</a:t>
            </a:r>
            <a:r>
              <a:rPr b="1" lang="en-GB" sz="1800">
                <a:solidFill>
                  <a:schemeClr val="dk2"/>
                </a:solidFill>
              </a:rPr>
              <a:t> matter. 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Warning #2  WIN-WIN for humanity and world a must.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Warning #3  </a:t>
            </a:r>
            <a:r>
              <a:rPr b="1" lang="en-GB" sz="1800">
                <a:solidFill>
                  <a:schemeClr val="dk2"/>
                </a:solidFill>
              </a:rPr>
              <a:t>Beware of misunderstanding (misrepresentation).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#EthicalVisulization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7688" y="869513"/>
            <a:ext cx="1343025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990975" y="445025"/>
            <a:ext cx="638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Various aspects for conveying information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1584625" y="1152475"/>
            <a:ext cx="578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Shape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Color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Orientation/Direction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Data characteristics (Discrete Vs Continuous, etc)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Ordering/</a:t>
            </a:r>
            <a:r>
              <a:rPr lang="en-GB"/>
              <a:t>Reversing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Grouping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Reserving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Border, scale/zoom, shadow,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locales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 Guidelines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Have a title, subtitle and legends </a:t>
            </a:r>
            <a:r>
              <a:rPr lang="en-GB"/>
              <a:t>wherever</a:t>
            </a:r>
            <a:r>
              <a:rPr lang="en-GB"/>
              <a:t> applicable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Make sure the baseline for bar chart is appropriate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Make sure the pie chart accumulates to total 100%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Provide support to download in various formats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Provide support to view/access more context/details if any.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Have input/feedback from </a:t>
            </a:r>
            <a:r>
              <a:rPr lang="en-GB"/>
              <a:t>group</a:t>
            </a:r>
            <a:r>
              <a:rPr lang="en-GB"/>
              <a:t> of people/peer blind after seeing draft viz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Give about 5-10 seconds after presenting visualization and then explain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Put yourself in shoe of viewers (end user,client,leadership) and viceversa when grasping someone else viz yourself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Accessibility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Date of last modification and others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Interesting facts</a:t>
            </a:r>
            <a:endParaRPr/>
          </a:p>
        </p:txBody>
      </p:sp>
      <p:sp>
        <p:nvSpPr>
          <p:cNvPr id="172" name="Google Shape;172;p32"/>
          <p:cNvSpPr txBox="1"/>
          <p:nvPr/>
        </p:nvSpPr>
        <p:spPr>
          <a:xfrm>
            <a:off x="592175" y="1099975"/>
            <a:ext cx="7996800" cy="3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Google looker has 48 chart types as of Aug’25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Apache has data exploration and visualization platform called Superset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Jaspersoft (2011 A.D.) and Tableau are independent product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There can be grammar of graphics like ggplot2 talks about (i.e. layering)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Google Visualization API, Motion charts and Fusion charts are grown up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Integration to primary website/app seems secondary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Interactive Vizs are simply famous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Informatica got Built-In Reporting capabilities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A single company also uses more than one tools in harmony and happily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Dashboards have to be dashing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ETL is close to all reporting/visualization tools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-GB" sz="1800">
                <a:solidFill>
                  <a:schemeClr val="dk2"/>
                </a:solidFill>
              </a:rPr>
              <a:t>Visuals can help during various phases of analytics and presentation is itself a phase!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316" y="1649178"/>
            <a:ext cx="6286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4366" y="2435931"/>
            <a:ext cx="13525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3"/>
          <p:cNvSpPr txBox="1"/>
          <p:nvPr/>
        </p:nvSpPr>
        <p:spPr>
          <a:xfrm>
            <a:off x="2944763" y="3250500"/>
            <a:ext cx="4679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>
              <a:solidFill>
                <a:schemeClr val="hlink"/>
              </a:solidFill>
            </a:endParaRPr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5262" y="4089950"/>
            <a:ext cx="2393483" cy="563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33"/>
          <p:cNvGraphicFramePr/>
          <p:nvPr/>
        </p:nvGraphicFramePr>
        <p:xfrm>
          <a:off x="2639388" y="81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{487B9BAA-D9D4-4C4F-9C7D-E45617734124}</a:tableStyleId>
              </a:tblPr>
              <a:tblGrid>
                <a:gridCol w="6178750"/>
              </a:tblGrid>
              <a:tr h="80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 u="sng">
                          <a:solidFill>
                            <a:schemeClr val="accent5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https://www.linkedin.com/in/jigar-pandya/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5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900" u="sng">
                          <a:solidFill>
                            <a:schemeClr val="accent5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https://github.com/profjigarpandya/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5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900" u="sng">
                          <a:solidFill>
                            <a:schemeClr val="accent5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https://www.kaggle.com/jigarpandya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5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 u="sng">
                          <a:solidFill>
                            <a:schemeClr val="accent5"/>
                          </a:solidFill>
                        </a:rPr>
                        <a:t>https://public.tableau.com/app/profile/jigarpandya/vizzes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82" name="Google Shape;182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56336" y="747142"/>
            <a:ext cx="6286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3102" y="3287257"/>
            <a:ext cx="187642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